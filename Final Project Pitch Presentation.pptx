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3B3B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5454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3B3B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5454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3B3B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3B3B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1296" y="946340"/>
            <a:ext cx="772160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3B3B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9896" y="1596928"/>
            <a:ext cx="7715250" cy="3825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5454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0200" y="1524000"/>
            <a:ext cx="615759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0292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rgbClr val="454545"/>
                </a:solidFill>
                <a:latin typeface="Arial MT"/>
                <a:cs typeface="Arial MT"/>
              </a:rPr>
              <a:t>Brain</a:t>
            </a:r>
            <a:r>
              <a:rPr sz="3400" spc="-17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454545"/>
                </a:solidFill>
                <a:latin typeface="Arial MT"/>
                <a:cs typeface="Arial MT"/>
              </a:rPr>
              <a:t>Tumor</a:t>
            </a:r>
            <a:r>
              <a:rPr sz="3400" spc="-11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454545"/>
                </a:solidFill>
                <a:latin typeface="Arial MT"/>
                <a:cs typeface="Arial MT"/>
              </a:rPr>
              <a:t>Detection</a:t>
            </a:r>
            <a:r>
              <a:rPr sz="3400" spc="-114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454545"/>
                </a:solidFill>
                <a:latin typeface="Arial MT"/>
                <a:cs typeface="Arial MT"/>
              </a:rPr>
              <a:t>and </a:t>
            </a:r>
            <a:r>
              <a:rPr sz="3400" dirty="0">
                <a:solidFill>
                  <a:srgbClr val="454545"/>
                </a:solidFill>
                <a:latin typeface="Arial MT"/>
                <a:cs typeface="Arial MT"/>
              </a:rPr>
              <a:t>Classification</a:t>
            </a:r>
            <a:r>
              <a:rPr sz="3400" spc="-7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454545"/>
                </a:solidFill>
                <a:latin typeface="Arial MT"/>
                <a:cs typeface="Arial MT"/>
              </a:rPr>
              <a:t>using</a:t>
            </a:r>
            <a:r>
              <a:rPr sz="3400" spc="-6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454545"/>
                </a:solidFill>
                <a:latin typeface="Arial MT"/>
                <a:cs typeface="Arial MT"/>
              </a:rPr>
              <a:t>MRI</a:t>
            </a:r>
            <a:r>
              <a:rPr sz="3400" spc="-6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454545"/>
                </a:solidFill>
                <a:latin typeface="Arial MT"/>
                <a:cs typeface="Arial MT"/>
              </a:rPr>
              <a:t>Images</a:t>
            </a:r>
            <a:endParaRPr sz="3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98637" y="3200400"/>
            <a:ext cx="5760720" cy="21826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595959"/>
                </a:solidFill>
                <a:latin typeface="Arial"/>
                <a:cs typeface="Arial"/>
              </a:rPr>
              <a:t>Project</a:t>
            </a:r>
            <a:r>
              <a:rPr sz="1800" b="1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595959"/>
                </a:solidFill>
                <a:latin typeface="Arial"/>
                <a:cs typeface="Arial"/>
              </a:rPr>
              <a:t>P</a:t>
            </a:r>
            <a:r>
              <a:rPr lang="en-US" sz="1800" b="1">
                <a:solidFill>
                  <a:srgbClr val="595959"/>
                </a:solidFill>
                <a:latin typeface="Arial"/>
                <a:cs typeface="Arial"/>
              </a:rPr>
              <a:t>itch</a:t>
            </a:r>
            <a:r>
              <a:rPr sz="1800" b="1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Presentation</a:t>
            </a:r>
            <a:endParaRPr sz="1800" dirty="0">
              <a:latin typeface="Arial"/>
              <a:cs typeface="Arial"/>
            </a:endParaRPr>
          </a:p>
          <a:p>
            <a:pPr marL="446405" marR="436880" algn="ctr"/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Course:</a:t>
            </a:r>
            <a:r>
              <a:rPr sz="1500" spc="-8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lang="en-US" sz="1500" dirty="0">
                <a:solidFill>
                  <a:srgbClr val="595959"/>
                </a:solidFill>
                <a:latin typeface="Arial MT"/>
                <a:cs typeface="Arial MT"/>
              </a:rPr>
              <a:t>ECEN 766 </a:t>
            </a:r>
            <a:r>
              <a:rPr lang="en-US" sz="1600" i="0" dirty="0">
                <a:solidFill>
                  <a:srgbClr val="666666"/>
                </a:solidFill>
                <a:effectLst/>
                <a:latin typeface="Lato Extended"/>
              </a:rPr>
              <a:t>ALG STRUCT BIOINFORMATICS</a:t>
            </a:r>
          </a:p>
          <a:p>
            <a:pPr marL="446405" marR="436880" algn="ctr">
              <a:lnSpc>
                <a:spcPct val="100000"/>
              </a:lnSpc>
            </a:pPr>
            <a:endParaRPr lang="en-US" sz="1500" spc="-10" dirty="0">
              <a:solidFill>
                <a:srgbClr val="595959"/>
              </a:solidFill>
              <a:latin typeface="Arial MT"/>
              <a:cs typeface="Arial MT"/>
            </a:endParaRPr>
          </a:p>
          <a:p>
            <a:pPr marL="446405" marR="436880" algn="ctr">
              <a:lnSpc>
                <a:spcPct val="100000"/>
              </a:lnSpc>
            </a:pP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Professor:</a:t>
            </a:r>
            <a:r>
              <a:rPr sz="1500" spc="-7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Yang Shen </a:t>
            </a:r>
          </a:p>
          <a:p>
            <a:pPr marL="446405" marR="436880" algn="ctr">
              <a:lnSpc>
                <a:spcPct val="100000"/>
              </a:lnSpc>
            </a:pPr>
            <a:endParaRPr lang="en-US" sz="1600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marL="446405" marR="436880" algn="ctr">
              <a:lnSpc>
                <a:spcPct val="100000"/>
              </a:lnSpc>
            </a:pPr>
            <a:r>
              <a:rPr sz="1500" spc="-35" dirty="0">
                <a:solidFill>
                  <a:srgbClr val="595959"/>
                </a:solidFill>
                <a:latin typeface="Arial MT"/>
                <a:cs typeface="Arial MT"/>
              </a:rPr>
              <a:t>Team</a:t>
            </a:r>
            <a:r>
              <a:rPr sz="1500" spc="-7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Members</a:t>
            </a:r>
            <a:endParaRPr lang="en-US" sz="1500" dirty="0">
              <a:solidFill>
                <a:srgbClr val="595959"/>
              </a:solidFill>
              <a:latin typeface="Arial MT"/>
              <a:cs typeface="Arial MT"/>
            </a:endParaRPr>
          </a:p>
          <a:p>
            <a:pPr marL="446405" marR="436880" algn="ctr">
              <a:lnSpc>
                <a:spcPct val="100000"/>
              </a:lnSpc>
            </a:pPr>
            <a:r>
              <a:rPr lang="en-US" sz="1500" spc="-25" dirty="0">
                <a:solidFill>
                  <a:srgbClr val="595959"/>
                </a:solidFill>
                <a:latin typeface="Arial MT"/>
                <a:cs typeface="Arial MT"/>
              </a:rPr>
              <a:t>Karthikeyan </a:t>
            </a:r>
            <a:r>
              <a:rPr lang="en-US" sz="1500" spc="-25" dirty="0" err="1">
                <a:solidFill>
                  <a:srgbClr val="595959"/>
                </a:solidFill>
                <a:latin typeface="Arial MT"/>
                <a:cs typeface="Arial MT"/>
              </a:rPr>
              <a:t>Muralidharan</a:t>
            </a:r>
            <a:endParaRPr lang="en-US" sz="1500" spc="-25" dirty="0">
              <a:solidFill>
                <a:srgbClr val="595959"/>
              </a:solidFill>
              <a:latin typeface="Arial MT"/>
              <a:cs typeface="Arial MT"/>
            </a:endParaRPr>
          </a:p>
          <a:p>
            <a:pPr marL="12700" marR="5080" algn="ctr">
              <a:lnSpc>
                <a:spcPct val="100000"/>
              </a:lnSpc>
            </a:pPr>
            <a:r>
              <a:rPr lang="en-US" sz="1500" spc="-25" dirty="0" err="1">
                <a:solidFill>
                  <a:srgbClr val="595959"/>
                </a:solidFill>
                <a:latin typeface="Arial MT"/>
                <a:cs typeface="Arial MT"/>
              </a:rPr>
              <a:t>Yuvaraj</a:t>
            </a:r>
            <a:r>
              <a:rPr lang="en-US" sz="1500" spc="-25" dirty="0">
                <a:solidFill>
                  <a:srgbClr val="595959"/>
                </a:solidFill>
                <a:latin typeface="Arial MT"/>
                <a:cs typeface="Arial MT"/>
              </a:rPr>
              <a:t> Suresh Babu</a:t>
            </a:r>
          </a:p>
          <a:p>
            <a:pPr marL="12700" marR="5080" algn="ctr">
              <a:lnSpc>
                <a:spcPct val="100000"/>
              </a:lnSpc>
            </a:pPr>
            <a:r>
              <a:rPr lang="en-US" sz="1500" spc="-25" dirty="0">
                <a:solidFill>
                  <a:srgbClr val="595959"/>
                </a:solidFill>
                <a:latin typeface="Arial MT"/>
                <a:cs typeface="Arial MT"/>
              </a:rPr>
              <a:t>Tamil </a:t>
            </a:r>
            <a:r>
              <a:rPr lang="en-US" sz="1500" spc="-25" dirty="0" err="1">
                <a:solidFill>
                  <a:srgbClr val="595959"/>
                </a:solidFill>
                <a:latin typeface="Arial MT"/>
                <a:cs typeface="Arial MT"/>
              </a:rPr>
              <a:t>Subbaraykgounder</a:t>
            </a:r>
            <a:endParaRPr lang="en-US" sz="1500" spc="-25" dirty="0">
              <a:solidFill>
                <a:srgbClr val="595959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772160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Nutshell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99896" y="1596928"/>
            <a:ext cx="7715250" cy="3480460"/>
          </a:xfrm>
          <a:prstGeom prst="rect">
            <a:avLst/>
          </a:prstGeom>
        </p:spPr>
        <p:txBody>
          <a:bodyPr vert="horz" wrap="square" lIns="0" tIns="139720" rIns="0" bIns="0" rtlCol="0">
            <a:spAutoFit/>
          </a:bodyPr>
          <a:lstStyle/>
          <a:p>
            <a:pPr marL="12700" marR="45720">
              <a:lnSpc>
                <a:spcPct val="100000"/>
              </a:lnSpc>
              <a:spcBef>
                <a:spcPts val="100"/>
              </a:spcBef>
            </a:pPr>
            <a:r>
              <a:rPr dirty="0"/>
              <a:t>We</a:t>
            </a:r>
            <a:r>
              <a:rPr spc="-60" dirty="0"/>
              <a:t> </a:t>
            </a:r>
            <a:r>
              <a:rPr dirty="0"/>
              <a:t>propose</a:t>
            </a:r>
            <a:r>
              <a:rPr spc="-6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system</a:t>
            </a:r>
            <a:r>
              <a:rPr spc="-6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detect</a:t>
            </a:r>
            <a:r>
              <a:rPr spc="-6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classify</a:t>
            </a:r>
            <a:r>
              <a:rPr spc="-60" dirty="0"/>
              <a:t> </a:t>
            </a:r>
            <a:r>
              <a:rPr dirty="0"/>
              <a:t>brain</a:t>
            </a:r>
            <a:r>
              <a:rPr spc="-55" dirty="0"/>
              <a:t> </a:t>
            </a:r>
            <a:r>
              <a:rPr spc="-10" dirty="0"/>
              <a:t>tumors </a:t>
            </a:r>
            <a:r>
              <a:rPr dirty="0"/>
              <a:t>from</a:t>
            </a:r>
            <a:r>
              <a:rPr spc="-35" dirty="0"/>
              <a:t> </a:t>
            </a:r>
            <a:r>
              <a:rPr dirty="0"/>
              <a:t>MRI</a:t>
            </a:r>
            <a:r>
              <a:rPr spc="-30" dirty="0"/>
              <a:t> </a:t>
            </a:r>
            <a:r>
              <a:rPr spc="-10" dirty="0"/>
              <a:t>scans.</a:t>
            </a:r>
          </a:p>
          <a:p>
            <a:pPr marL="12700" marR="768985">
              <a:lnSpc>
                <a:spcPct val="100000"/>
              </a:lnSpc>
              <a:spcBef>
                <a:spcPts val="1000"/>
              </a:spcBef>
            </a:pPr>
            <a:r>
              <a:rPr dirty="0"/>
              <a:t>Our</a:t>
            </a:r>
            <a:r>
              <a:rPr spc="-80" dirty="0"/>
              <a:t> </a:t>
            </a:r>
            <a:r>
              <a:rPr dirty="0"/>
              <a:t>pipeline</a:t>
            </a:r>
            <a:r>
              <a:rPr spc="-75" dirty="0"/>
              <a:t> </a:t>
            </a:r>
            <a:r>
              <a:rPr dirty="0"/>
              <a:t>includes</a:t>
            </a:r>
            <a:r>
              <a:rPr spc="-70" dirty="0"/>
              <a:t> </a:t>
            </a:r>
            <a:r>
              <a:rPr spc="-10" dirty="0"/>
              <a:t>preprocessing,</a:t>
            </a:r>
            <a:r>
              <a:rPr spc="-75" dirty="0"/>
              <a:t> </a:t>
            </a:r>
            <a:r>
              <a:rPr spc="-10" dirty="0"/>
              <a:t>segmentation, </a:t>
            </a:r>
            <a:r>
              <a:rPr dirty="0"/>
              <a:t>feature</a:t>
            </a:r>
            <a:r>
              <a:rPr spc="-100" dirty="0"/>
              <a:t> </a:t>
            </a:r>
            <a:r>
              <a:rPr dirty="0"/>
              <a:t>extraction</a:t>
            </a:r>
            <a:r>
              <a:rPr spc="-100" dirty="0"/>
              <a:t> </a:t>
            </a:r>
            <a:r>
              <a:rPr dirty="0"/>
              <a:t>and</a:t>
            </a:r>
            <a:r>
              <a:rPr spc="-100" dirty="0"/>
              <a:t> </a:t>
            </a:r>
            <a:r>
              <a:rPr spc="-10" dirty="0"/>
              <a:t>classification.</a:t>
            </a:r>
          </a:p>
          <a:p>
            <a:pPr marL="12700" marR="1236345">
              <a:lnSpc>
                <a:spcPct val="100000"/>
              </a:lnSpc>
              <a:spcBef>
                <a:spcPts val="1000"/>
              </a:spcBef>
            </a:pPr>
            <a:r>
              <a:rPr dirty="0"/>
              <a:t>We</a:t>
            </a:r>
            <a:r>
              <a:rPr spc="-70" dirty="0"/>
              <a:t> </a:t>
            </a:r>
            <a:r>
              <a:rPr dirty="0"/>
              <a:t>will</a:t>
            </a:r>
            <a:r>
              <a:rPr spc="-70" dirty="0"/>
              <a:t> </a:t>
            </a:r>
            <a:r>
              <a:rPr dirty="0"/>
              <a:t>compare</a:t>
            </a:r>
            <a:r>
              <a:rPr spc="-65" dirty="0"/>
              <a:t> </a:t>
            </a:r>
            <a:r>
              <a:rPr dirty="0"/>
              <a:t>methods</a:t>
            </a:r>
            <a:r>
              <a:rPr spc="-70" dirty="0"/>
              <a:t> </a:t>
            </a:r>
            <a:r>
              <a:rPr dirty="0"/>
              <a:t>such</a:t>
            </a:r>
            <a:r>
              <a:rPr spc="-65" dirty="0"/>
              <a:t> </a:t>
            </a:r>
            <a:r>
              <a:rPr dirty="0"/>
              <a:t>as</a:t>
            </a:r>
            <a:r>
              <a:rPr spc="-70" dirty="0"/>
              <a:t> </a:t>
            </a:r>
            <a:r>
              <a:rPr dirty="0"/>
              <a:t>Otsu,</a:t>
            </a:r>
            <a:r>
              <a:rPr spc="-65" dirty="0"/>
              <a:t> </a:t>
            </a:r>
            <a:r>
              <a:rPr spc="-10" dirty="0"/>
              <a:t>Canny, Watershed,</a:t>
            </a:r>
            <a:r>
              <a:rPr spc="-60" dirty="0"/>
              <a:t> </a:t>
            </a:r>
            <a:r>
              <a:rPr dirty="0"/>
              <a:t>PSO,</a:t>
            </a:r>
            <a:r>
              <a:rPr spc="-60" dirty="0"/>
              <a:t> </a:t>
            </a:r>
            <a:r>
              <a:rPr dirty="0"/>
              <a:t>SVM</a:t>
            </a:r>
            <a:r>
              <a:rPr spc="-6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20" dirty="0"/>
              <a:t>CNN.</a:t>
            </a: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dirty="0"/>
              <a:t>Goal:</a:t>
            </a:r>
            <a:r>
              <a:rPr spc="-80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dirty="0"/>
              <a:t>reliable</a:t>
            </a:r>
            <a:r>
              <a:rPr spc="-7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accurate</a:t>
            </a:r>
            <a:r>
              <a:rPr spc="-80" dirty="0"/>
              <a:t> </a:t>
            </a:r>
            <a:r>
              <a:rPr dirty="0"/>
              <a:t>approach</a:t>
            </a:r>
            <a:r>
              <a:rPr spc="-75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lang="en-IN" spc="-80" dirty="0"/>
              <a:t>detect and </a:t>
            </a:r>
            <a:r>
              <a:rPr dirty="0"/>
              <a:t>classify</a:t>
            </a:r>
            <a:r>
              <a:rPr spc="-75" dirty="0"/>
              <a:t> </a:t>
            </a:r>
            <a:r>
              <a:rPr spc="-10" dirty="0"/>
              <a:t>tumors </a:t>
            </a:r>
            <a:r>
              <a:rPr dirty="0"/>
              <a:t>as</a:t>
            </a:r>
            <a:r>
              <a:rPr spc="-55" dirty="0"/>
              <a:t> </a:t>
            </a:r>
            <a:r>
              <a:rPr dirty="0"/>
              <a:t>benign</a:t>
            </a:r>
            <a:r>
              <a:rPr spc="-50" dirty="0"/>
              <a:t> </a:t>
            </a:r>
            <a:r>
              <a:rPr dirty="0"/>
              <a:t>or</a:t>
            </a:r>
            <a:r>
              <a:rPr spc="-50" dirty="0"/>
              <a:t> </a:t>
            </a:r>
            <a:r>
              <a:rPr spc="-10" dirty="0"/>
              <a:t>malignant.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762000"/>
            <a:ext cx="77216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Problem</a:t>
            </a:r>
            <a:r>
              <a:rPr sz="3200" spc="-95" dirty="0"/>
              <a:t> </a:t>
            </a:r>
            <a:r>
              <a:rPr sz="3200" dirty="0"/>
              <a:t>Statement</a:t>
            </a:r>
            <a:r>
              <a:rPr sz="3200" spc="-90" dirty="0"/>
              <a:t> </a:t>
            </a:r>
            <a:r>
              <a:rPr sz="3200" dirty="0"/>
              <a:t>and</a:t>
            </a:r>
            <a:r>
              <a:rPr sz="3200" spc="-95" dirty="0"/>
              <a:t> </a:t>
            </a:r>
            <a:r>
              <a:rPr sz="3200" spc="-1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9896" y="1723948"/>
            <a:ext cx="7647305" cy="3333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702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Brain</a:t>
            </a:r>
            <a:r>
              <a:rPr sz="2400" spc="-5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tumors</a:t>
            </a:r>
            <a:r>
              <a:rPr sz="2400" spc="-5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can</a:t>
            </a:r>
            <a:r>
              <a:rPr sz="2400" spc="-5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be</a:t>
            </a:r>
            <a:r>
              <a:rPr sz="2400" spc="-5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54545"/>
                </a:solidFill>
                <a:latin typeface="Arial MT"/>
                <a:cs typeface="Arial MT"/>
              </a:rPr>
              <a:t>life-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threatening,</a:t>
            </a:r>
            <a:r>
              <a:rPr sz="2400" spc="-5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so</a:t>
            </a:r>
            <a:r>
              <a:rPr sz="2400" spc="-5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early</a:t>
            </a:r>
            <a:r>
              <a:rPr sz="2400" spc="-5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54545"/>
                </a:solidFill>
                <a:latin typeface="Arial MT"/>
                <a:cs typeface="Arial MT"/>
              </a:rPr>
              <a:t>and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accurate</a:t>
            </a:r>
            <a:r>
              <a:rPr sz="2400" spc="-9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diagnosis</a:t>
            </a:r>
            <a:r>
              <a:rPr sz="2400" spc="-8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is</a:t>
            </a:r>
            <a:r>
              <a:rPr sz="2400" spc="-9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important.</a:t>
            </a:r>
            <a:endParaRPr sz="24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MRI</a:t>
            </a:r>
            <a:r>
              <a:rPr sz="2400" spc="-7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is</a:t>
            </a:r>
            <a:r>
              <a:rPr sz="2400" spc="-7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commonly</a:t>
            </a:r>
            <a:r>
              <a:rPr sz="2400" spc="-6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used,</a:t>
            </a:r>
            <a:r>
              <a:rPr sz="2400" spc="-7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but</a:t>
            </a:r>
            <a:r>
              <a:rPr sz="2400" spc="-7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manual</a:t>
            </a:r>
            <a:r>
              <a:rPr sz="2400" spc="-7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interpretation</a:t>
            </a:r>
            <a:r>
              <a:rPr sz="2400" spc="-6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can</a:t>
            </a:r>
            <a:r>
              <a:rPr sz="2400" spc="-7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54545"/>
                </a:solidFill>
                <a:latin typeface="Arial MT"/>
                <a:cs typeface="Arial MT"/>
              </a:rPr>
              <a:t>be time-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consuming.</a:t>
            </a:r>
            <a:endParaRPr sz="2400" dirty="0">
              <a:latin typeface="Arial MT"/>
              <a:cs typeface="Arial MT"/>
            </a:endParaRPr>
          </a:p>
          <a:p>
            <a:pPr marL="12700" marR="208279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Diagnosis</a:t>
            </a:r>
            <a:r>
              <a:rPr sz="2400" spc="-9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quality</a:t>
            </a:r>
            <a:r>
              <a:rPr sz="2400" spc="-9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can</a:t>
            </a:r>
            <a:r>
              <a:rPr sz="2400" spc="-9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depend</a:t>
            </a:r>
            <a:r>
              <a:rPr sz="2400" spc="-9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on</a:t>
            </a:r>
            <a:r>
              <a:rPr sz="2400" spc="-9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expert</a:t>
            </a:r>
            <a:r>
              <a:rPr sz="2400" spc="-9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availability</a:t>
            </a:r>
            <a:r>
              <a:rPr sz="2400" spc="-9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54545"/>
                </a:solidFill>
                <a:latin typeface="Arial MT"/>
                <a:cs typeface="Arial MT"/>
              </a:rPr>
              <a:t>and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consistency.</a:t>
            </a:r>
            <a:endParaRPr sz="2400" dirty="0">
              <a:latin typeface="Arial MT"/>
              <a:cs typeface="Arial MT"/>
            </a:endParaRPr>
          </a:p>
          <a:p>
            <a:pPr marL="12700" marR="621665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We</a:t>
            </a:r>
            <a:r>
              <a:rPr sz="2400" spc="-6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aim</a:t>
            </a:r>
            <a:r>
              <a:rPr sz="2400" spc="-6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to</a:t>
            </a:r>
            <a:r>
              <a:rPr sz="2400" spc="-6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build</a:t>
            </a:r>
            <a:r>
              <a:rPr sz="2400" spc="-6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an</a:t>
            </a:r>
            <a:r>
              <a:rPr sz="2400" spc="-6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automated</a:t>
            </a:r>
            <a:r>
              <a:rPr sz="2400" spc="-6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54545"/>
                </a:solidFill>
                <a:latin typeface="Arial MT"/>
                <a:cs typeface="Arial MT"/>
              </a:rPr>
              <a:t>MRI-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based</a:t>
            </a:r>
            <a:r>
              <a:rPr sz="2400" spc="-6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system</a:t>
            </a:r>
            <a:r>
              <a:rPr sz="2400" spc="-6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54545"/>
                </a:solidFill>
                <a:latin typeface="Arial MT"/>
                <a:cs typeface="Arial MT"/>
              </a:rPr>
              <a:t>to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support</a:t>
            </a:r>
            <a:r>
              <a:rPr sz="2400" spc="-7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tumor</a:t>
            </a:r>
            <a:r>
              <a:rPr sz="2400" spc="-7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detection</a:t>
            </a:r>
            <a:r>
              <a:rPr sz="2400" spc="-7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and</a:t>
            </a:r>
            <a:r>
              <a:rPr sz="2400" spc="-6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classification.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762000"/>
            <a:ext cx="772160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dirty="0"/>
              <a:t>Existing</a:t>
            </a:r>
            <a:r>
              <a:rPr sz="3000" spc="-75" dirty="0"/>
              <a:t> </a:t>
            </a:r>
            <a:r>
              <a:rPr sz="3000" dirty="0"/>
              <a:t>Methods</a:t>
            </a:r>
            <a:r>
              <a:rPr sz="3000" spc="-75" dirty="0"/>
              <a:t> </a:t>
            </a:r>
            <a:r>
              <a:rPr sz="3000" dirty="0"/>
              <a:t>and</a:t>
            </a:r>
            <a:r>
              <a:rPr sz="3000" spc="-75" dirty="0"/>
              <a:t> </a:t>
            </a:r>
            <a:r>
              <a:rPr sz="3000" dirty="0"/>
              <a:t>Research</a:t>
            </a:r>
            <a:r>
              <a:rPr sz="3000" spc="-70" dirty="0"/>
              <a:t> </a:t>
            </a:r>
            <a:r>
              <a:rPr sz="3000" spc="-25" dirty="0"/>
              <a:t>Gap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14375" y="1981200"/>
            <a:ext cx="7715250" cy="2546858"/>
          </a:xfrm>
          <a:prstGeom prst="rect">
            <a:avLst/>
          </a:prstGeom>
        </p:spPr>
        <p:txBody>
          <a:bodyPr vert="horz" wrap="square" lIns="0" tIns="139707" rIns="0" bIns="0" rtlCol="0">
            <a:spAutoFit/>
          </a:bodyPr>
          <a:lstStyle/>
          <a:p>
            <a:pPr marL="12700" marR="666115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Prior</a:t>
            </a:r>
            <a:r>
              <a:rPr sz="2200" spc="-55" dirty="0"/>
              <a:t> </a:t>
            </a:r>
            <a:r>
              <a:rPr sz="2200" dirty="0"/>
              <a:t>work</a:t>
            </a:r>
            <a:r>
              <a:rPr sz="2200" spc="-50" dirty="0"/>
              <a:t> </a:t>
            </a:r>
            <a:r>
              <a:rPr sz="2200" dirty="0"/>
              <a:t>uses</a:t>
            </a:r>
            <a:r>
              <a:rPr sz="2200" spc="-50" dirty="0"/>
              <a:t> </a:t>
            </a:r>
            <a:r>
              <a:rPr sz="2200" dirty="0"/>
              <a:t>a</a:t>
            </a:r>
            <a:r>
              <a:rPr sz="2200" spc="-50" dirty="0"/>
              <a:t> </a:t>
            </a:r>
            <a:r>
              <a:rPr sz="2200" dirty="0"/>
              <a:t>pipeline:</a:t>
            </a:r>
            <a:r>
              <a:rPr sz="2200" spc="-50" dirty="0"/>
              <a:t> </a:t>
            </a:r>
            <a:r>
              <a:rPr sz="2200" spc="-10" dirty="0"/>
              <a:t>preprocessing, </a:t>
            </a:r>
            <a:r>
              <a:rPr sz="2200" dirty="0"/>
              <a:t>feature</a:t>
            </a:r>
            <a:r>
              <a:rPr sz="2200" spc="-105" dirty="0"/>
              <a:t> </a:t>
            </a:r>
            <a:r>
              <a:rPr sz="2200" dirty="0"/>
              <a:t>extraction</a:t>
            </a:r>
            <a:r>
              <a:rPr sz="2200" spc="-95" dirty="0"/>
              <a:t> </a:t>
            </a:r>
            <a:r>
              <a:rPr sz="2200" dirty="0"/>
              <a:t>and</a:t>
            </a:r>
            <a:r>
              <a:rPr sz="2200" spc="-100" dirty="0"/>
              <a:t> </a:t>
            </a:r>
            <a:r>
              <a:rPr sz="2200" spc="-10" dirty="0"/>
              <a:t>classification.</a:t>
            </a:r>
            <a:endParaRPr sz="2200" dirty="0"/>
          </a:p>
          <a:p>
            <a:pPr marL="12700" marR="807085">
              <a:lnSpc>
                <a:spcPts val="3640"/>
              </a:lnSpc>
              <a:spcBef>
                <a:spcPts val="285"/>
              </a:spcBef>
            </a:pPr>
            <a:r>
              <a:rPr sz="2200" spc="-10" dirty="0"/>
              <a:t>Segmentation</a:t>
            </a:r>
            <a:r>
              <a:rPr sz="2200" spc="-105" dirty="0"/>
              <a:t> </a:t>
            </a:r>
            <a:r>
              <a:rPr sz="2200" dirty="0"/>
              <a:t>methods:</a:t>
            </a:r>
            <a:r>
              <a:rPr sz="2200" spc="-100" dirty="0"/>
              <a:t> </a:t>
            </a:r>
            <a:r>
              <a:rPr sz="2200" dirty="0"/>
              <a:t>Otsu,</a:t>
            </a:r>
            <a:r>
              <a:rPr sz="2200" spc="-100" dirty="0"/>
              <a:t> </a:t>
            </a:r>
            <a:r>
              <a:rPr sz="2200" spc="-20" dirty="0"/>
              <a:t>Canny,</a:t>
            </a:r>
            <a:r>
              <a:rPr sz="2200" spc="-100" dirty="0"/>
              <a:t> </a:t>
            </a:r>
            <a:r>
              <a:rPr sz="2200" spc="-10" dirty="0"/>
              <a:t>Watershed,</a:t>
            </a:r>
            <a:r>
              <a:rPr sz="2200" spc="-100" dirty="0"/>
              <a:t> </a:t>
            </a:r>
            <a:r>
              <a:rPr sz="2200" spc="-20" dirty="0"/>
              <a:t>PSO. </a:t>
            </a:r>
            <a:r>
              <a:rPr sz="2200" dirty="0"/>
              <a:t>Classification</a:t>
            </a:r>
            <a:r>
              <a:rPr sz="2200" spc="-65" dirty="0"/>
              <a:t> </a:t>
            </a:r>
            <a:r>
              <a:rPr sz="2200" dirty="0"/>
              <a:t>methods:</a:t>
            </a:r>
            <a:r>
              <a:rPr sz="2200" spc="-60" dirty="0"/>
              <a:t> </a:t>
            </a:r>
            <a:r>
              <a:rPr sz="2200" dirty="0"/>
              <a:t>SVM,</a:t>
            </a:r>
            <a:r>
              <a:rPr sz="2200" spc="-65" dirty="0"/>
              <a:t> </a:t>
            </a:r>
            <a:r>
              <a:rPr sz="2200" dirty="0"/>
              <a:t>Lazy</a:t>
            </a:r>
            <a:r>
              <a:rPr sz="2200" spc="-60" dirty="0"/>
              <a:t> </a:t>
            </a:r>
            <a:r>
              <a:rPr sz="2200" dirty="0"/>
              <a:t>IBK,</a:t>
            </a:r>
            <a:r>
              <a:rPr sz="2200" spc="-65" dirty="0"/>
              <a:t> </a:t>
            </a:r>
            <a:r>
              <a:rPr sz="2200" spc="-20" dirty="0"/>
              <a:t>CNN.</a:t>
            </a:r>
            <a:endParaRPr sz="2200" dirty="0"/>
          </a:p>
          <a:p>
            <a:pPr marL="12700" marR="770255">
              <a:lnSpc>
                <a:spcPct val="100000"/>
              </a:lnSpc>
              <a:spcBef>
                <a:spcPts val="710"/>
              </a:spcBef>
            </a:pPr>
            <a:r>
              <a:rPr sz="2200" dirty="0"/>
              <a:t>Different</a:t>
            </a:r>
            <a:r>
              <a:rPr sz="2200" spc="-95" dirty="0"/>
              <a:t> </a:t>
            </a:r>
            <a:r>
              <a:rPr sz="2200" spc="-10" dirty="0"/>
              <a:t>combinations</a:t>
            </a:r>
            <a:r>
              <a:rPr sz="2200" spc="-90" dirty="0"/>
              <a:t> </a:t>
            </a:r>
            <a:r>
              <a:rPr sz="2200" dirty="0"/>
              <a:t>can</a:t>
            </a:r>
            <a:r>
              <a:rPr sz="2200" spc="-95" dirty="0"/>
              <a:t> </a:t>
            </a:r>
            <a:r>
              <a:rPr sz="2200" dirty="0"/>
              <a:t>produce</a:t>
            </a:r>
            <a:r>
              <a:rPr sz="2200" spc="-95" dirty="0"/>
              <a:t> </a:t>
            </a:r>
            <a:r>
              <a:rPr sz="2200" dirty="0"/>
              <a:t>different</a:t>
            </a:r>
            <a:r>
              <a:rPr sz="2200" spc="-90" dirty="0"/>
              <a:t> </a:t>
            </a:r>
            <a:r>
              <a:rPr sz="2200" dirty="0"/>
              <a:t>results</a:t>
            </a:r>
            <a:r>
              <a:rPr sz="2200" spc="-90" dirty="0"/>
              <a:t> </a:t>
            </a:r>
            <a:r>
              <a:rPr sz="2200" spc="-25" dirty="0"/>
              <a:t>and </a:t>
            </a:r>
            <a:r>
              <a:rPr sz="2200" spc="-10" dirty="0"/>
              <a:t>reliability.</a:t>
            </a:r>
            <a:endParaRPr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09600"/>
            <a:ext cx="772160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spc="-50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9896" y="1596928"/>
            <a:ext cx="6595109" cy="2295757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MRI</a:t>
            </a:r>
            <a:r>
              <a:rPr sz="2200" spc="-6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image</a:t>
            </a:r>
            <a:r>
              <a:rPr sz="2200" spc="-6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54545"/>
                </a:solidFill>
                <a:latin typeface="Arial MT"/>
                <a:cs typeface="Arial MT"/>
              </a:rPr>
              <a:t>input</a:t>
            </a:r>
            <a:endParaRPr sz="2200" dirty="0">
              <a:latin typeface="Arial MT"/>
              <a:cs typeface="Arial MT"/>
            </a:endParaRPr>
          </a:p>
          <a:p>
            <a:pPr marL="12700" marR="5080">
              <a:lnSpc>
                <a:spcPct val="137900"/>
              </a:lnSpc>
            </a:pP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Preprocessing:</a:t>
            </a:r>
            <a:r>
              <a:rPr sz="2200" spc="-114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noise</a:t>
            </a:r>
            <a:r>
              <a:rPr sz="2200" spc="-11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removal,</a:t>
            </a:r>
            <a:r>
              <a:rPr sz="2200" spc="-114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filtering,</a:t>
            </a:r>
            <a:r>
              <a:rPr sz="2200" spc="-11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54545"/>
                </a:solidFill>
                <a:latin typeface="Arial MT"/>
                <a:cs typeface="Arial MT"/>
              </a:rPr>
              <a:t>enhancement Segmentation:</a:t>
            </a:r>
            <a:r>
              <a:rPr sz="2200" spc="-5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Otsu</a:t>
            </a:r>
            <a:r>
              <a:rPr sz="2200" spc="-4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/</a:t>
            </a:r>
            <a:r>
              <a:rPr sz="2200" spc="-4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Canny</a:t>
            </a:r>
            <a:r>
              <a:rPr sz="2200" spc="-4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/</a:t>
            </a:r>
            <a:r>
              <a:rPr sz="2200" spc="-4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54545"/>
                </a:solidFill>
                <a:latin typeface="Arial MT"/>
                <a:cs typeface="Arial MT"/>
              </a:rPr>
              <a:t>Watershed</a:t>
            </a:r>
            <a:r>
              <a:rPr sz="2200" spc="-5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/</a:t>
            </a:r>
            <a:r>
              <a:rPr sz="2200" spc="-4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454545"/>
                </a:solidFill>
                <a:latin typeface="Arial MT"/>
                <a:cs typeface="Arial MT"/>
              </a:rPr>
              <a:t>PSO </a:t>
            </a: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Feature</a:t>
            </a:r>
            <a:r>
              <a:rPr sz="2200" spc="-114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54545"/>
                </a:solidFill>
                <a:latin typeface="Arial MT"/>
                <a:cs typeface="Arial MT"/>
              </a:rPr>
              <a:t>extraction</a:t>
            </a:r>
            <a:endParaRPr sz="2200" dirty="0">
              <a:latin typeface="Arial MT"/>
              <a:cs typeface="Arial MT"/>
            </a:endParaRPr>
          </a:p>
          <a:p>
            <a:pPr marL="12700" marR="3335654">
              <a:lnSpc>
                <a:spcPct val="137900"/>
              </a:lnSpc>
            </a:pP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Classification:</a:t>
            </a:r>
            <a:r>
              <a:rPr sz="2200" spc="-6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SVM</a:t>
            </a:r>
            <a:r>
              <a:rPr sz="2200" spc="-5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54545"/>
                </a:solidFill>
                <a:latin typeface="Arial MT"/>
                <a:cs typeface="Arial MT"/>
              </a:rPr>
              <a:t>/</a:t>
            </a:r>
            <a:r>
              <a:rPr sz="2200" spc="-6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454545"/>
                </a:solidFill>
                <a:latin typeface="Arial MT"/>
                <a:cs typeface="Arial MT"/>
              </a:rPr>
              <a:t>CNN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0338" y="789151"/>
            <a:ext cx="81534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000" b="1" dirty="0">
                <a:effectLst/>
                <a:latin typeface="Helvetica Neue" panose="02000503000000020004" pitchFamily="2" charset="0"/>
              </a:rPr>
              <a:t>Data, Experiments and Expected Outcome</a:t>
            </a:r>
            <a:endParaRPr lang="en-US" sz="3000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5138" y="2057400"/>
            <a:ext cx="7543800" cy="20005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0045">
              <a:lnSpc>
                <a:spcPct val="100000"/>
              </a:lnSpc>
              <a:spcBef>
                <a:spcPts val="100"/>
              </a:spcBef>
            </a:pPr>
            <a:r>
              <a:rPr lang="en-US" sz="2400" b="0" dirty="0">
                <a:solidFill>
                  <a:srgbClr val="454545"/>
                </a:solidFill>
                <a:latin typeface="Arial MT"/>
                <a:cs typeface="Arial MT"/>
              </a:rPr>
              <a:t>Use MRI brain scan</a:t>
            </a:r>
            <a:r>
              <a:rPr lang="en-US" sz="2400" b="0" spc="-4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lang="en-US" sz="2400" b="0" dirty="0">
                <a:solidFill>
                  <a:srgbClr val="454545"/>
                </a:solidFill>
                <a:latin typeface="Arial MT"/>
                <a:cs typeface="Arial MT"/>
              </a:rPr>
              <a:t>images</a:t>
            </a:r>
            <a:r>
              <a:rPr lang="en-US" sz="2400" b="0" spc="-1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lang="en-US" sz="2400" b="0" dirty="0">
                <a:solidFill>
                  <a:srgbClr val="454545"/>
                </a:solidFill>
                <a:latin typeface="Arial MT"/>
                <a:cs typeface="Arial MT"/>
              </a:rPr>
              <a:t>from</a:t>
            </a:r>
            <a:r>
              <a:rPr lang="en-US" sz="2400" b="0" spc="-2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lang="en-US" sz="2400" b="0" dirty="0">
                <a:solidFill>
                  <a:srgbClr val="454545"/>
                </a:solidFill>
                <a:latin typeface="Arial MT"/>
                <a:cs typeface="Arial MT"/>
              </a:rPr>
              <a:t>public</a:t>
            </a:r>
            <a:r>
              <a:rPr lang="en-US" sz="2400" b="0" spc="-10" dirty="0">
                <a:solidFill>
                  <a:srgbClr val="454545"/>
                </a:solidFill>
                <a:latin typeface="Arial MT"/>
                <a:cs typeface="Arial MT"/>
              </a:rPr>
              <a:t> datasets.</a:t>
            </a:r>
          </a:p>
          <a:p>
            <a:pPr marL="12700" marR="360045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454545"/>
                </a:solidFill>
                <a:latin typeface="Arial MT"/>
                <a:cs typeface="Arial MT"/>
              </a:rPr>
              <a:t>Test</a:t>
            </a:r>
            <a:r>
              <a:rPr sz="2400" spc="-7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multiple</a:t>
            </a:r>
            <a:r>
              <a:rPr sz="2400" spc="-8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combinations</a:t>
            </a:r>
            <a:r>
              <a:rPr sz="2400" spc="-7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of</a:t>
            </a:r>
            <a:r>
              <a:rPr sz="2400" spc="-7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segmentation,</a:t>
            </a:r>
            <a:r>
              <a:rPr sz="2400" spc="-7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feature extraction</a:t>
            </a:r>
            <a:r>
              <a:rPr sz="2400" spc="-6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classifiers.</a:t>
            </a:r>
            <a:endParaRPr lang="en-US" sz="2400" spc="-10" dirty="0">
              <a:solidFill>
                <a:srgbClr val="454545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Primary</a:t>
            </a:r>
            <a:r>
              <a:rPr sz="2400" spc="-8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metric:</a:t>
            </a:r>
            <a:r>
              <a:rPr sz="2400" spc="-8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accuracy</a:t>
            </a:r>
            <a:r>
              <a:rPr sz="2400" spc="-7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(plus</a:t>
            </a:r>
            <a:r>
              <a:rPr sz="2400" spc="-7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confusion</a:t>
            </a:r>
            <a:r>
              <a:rPr sz="2400" spc="-7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matrix</a:t>
            </a:r>
            <a:r>
              <a:rPr sz="2400" spc="-8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if</a:t>
            </a:r>
            <a:r>
              <a:rPr sz="2400" spc="-7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54545"/>
                </a:solidFill>
                <a:latin typeface="Arial MT"/>
                <a:cs typeface="Arial MT"/>
              </a:rPr>
              <a:t>time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permits).</a:t>
            </a:r>
            <a:endParaRPr lang="en-US" sz="2400" spc="-10" dirty="0">
              <a:solidFill>
                <a:srgbClr val="454545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772160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Timeline,</a:t>
            </a:r>
            <a:r>
              <a:rPr spc="-145" dirty="0"/>
              <a:t> </a:t>
            </a:r>
            <a:r>
              <a:rPr spc="-25" dirty="0"/>
              <a:t>Team</a:t>
            </a:r>
            <a:r>
              <a:rPr spc="-140" dirty="0"/>
              <a:t> </a:t>
            </a:r>
            <a:r>
              <a:rPr dirty="0"/>
              <a:t>Roles,</a:t>
            </a:r>
            <a:r>
              <a:rPr spc="-140" dirty="0"/>
              <a:t> </a:t>
            </a:r>
            <a:r>
              <a:rPr dirty="0"/>
              <a:t>and</a:t>
            </a:r>
            <a:r>
              <a:rPr spc="-145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14375" y="1905000"/>
            <a:ext cx="7715250" cy="2613556"/>
          </a:xfrm>
          <a:prstGeom prst="rect">
            <a:avLst/>
          </a:prstGeom>
        </p:spPr>
        <p:txBody>
          <a:bodyPr vert="horz" wrap="square" lIns="0" tIns="139720" rIns="0" bIns="0" rtlCol="0">
            <a:spAutoFit/>
          </a:bodyPr>
          <a:lstStyle/>
          <a:p>
            <a:pPr marL="12700" marR="40703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Timeline:</a:t>
            </a:r>
            <a:r>
              <a:rPr spc="-80" dirty="0"/>
              <a:t> </a:t>
            </a:r>
            <a:r>
              <a:rPr dirty="0"/>
              <a:t>literature</a:t>
            </a:r>
            <a:r>
              <a:rPr spc="-80" dirty="0"/>
              <a:t> </a:t>
            </a:r>
            <a:r>
              <a:rPr dirty="0"/>
              <a:t>+</a:t>
            </a:r>
            <a:r>
              <a:rPr spc="-75" dirty="0"/>
              <a:t> </a:t>
            </a:r>
            <a:r>
              <a:rPr dirty="0"/>
              <a:t>dataset</a:t>
            </a:r>
            <a:r>
              <a:rPr spc="-80" dirty="0"/>
              <a:t> </a:t>
            </a:r>
            <a:r>
              <a:rPr spc="-10" dirty="0"/>
              <a:t>-</a:t>
            </a:r>
            <a:r>
              <a:rPr dirty="0"/>
              <a:t>&gt;</a:t>
            </a:r>
            <a:r>
              <a:rPr spc="-80" dirty="0"/>
              <a:t> </a:t>
            </a:r>
            <a:r>
              <a:rPr spc="-10" dirty="0"/>
              <a:t>preprocessing</a:t>
            </a:r>
            <a:r>
              <a:rPr spc="-75" dirty="0"/>
              <a:t> </a:t>
            </a:r>
            <a:r>
              <a:rPr spc="-50" dirty="0"/>
              <a:t>+ </a:t>
            </a:r>
            <a:r>
              <a:rPr spc="-10" dirty="0"/>
              <a:t>segmentation</a:t>
            </a:r>
            <a:r>
              <a:rPr spc="-60" dirty="0"/>
              <a:t> </a:t>
            </a:r>
            <a:r>
              <a:rPr spc="-10" dirty="0"/>
              <a:t>-</a:t>
            </a:r>
            <a:r>
              <a:rPr dirty="0"/>
              <a:t>&gt;</a:t>
            </a:r>
            <a:r>
              <a:rPr spc="-55" dirty="0"/>
              <a:t> </a:t>
            </a:r>
            <a:r>
              <a:rPr dirty="0"/>
              <a:t>feature</a:t>
            </a:r>
            <a:r>
              <a:rPr spc="-55" dirty="0"/>
              <a:t> </a:t>
            </a:r>
            <a:r>
              <a:rPr dirty="0"/>
              <a:t>extraction</a:t>
            </a:r>
            <a:r>
              <a:rPr spc="-55" dirty="0"/>
              <a:t> </a:t>
            </a:r>
            <a:r>
              <a:rPr dirty="0"/>
              <a:t>+</a:t>
            </a:r>
            <a:r>
              <a:rPr spc="-55" dirty="0"/>
              <a:t> </a:t>
            </a:r>
            <a:r>
              <a:rPr spc="-10" dirty="0"/>
              <a:t>classification</a:t>
            </a:r>
            <a:r>
              <a:rPr spc="-55" dirty="0"/>
              <a:t> </a:t>
            </a:r>
            <a:r>
              <a:rPr spc="-10" dirty="0"/>
              <a:t>-</a:t>
            </a:r>
            <a:r>
              <a:rPr spc="-50" dirty="0"/>
              <a:t>&gt; </a:t>
            </a:r>
            <a:r>
              <a:rPr dirty="0"/>
              <a:t>testing</a:t>
            </a:r>
            <a:r>
              <a:rPr spc="-60" dirty="0"/>
              <a:t> </a:t>
            </a:r>
            <a:r>
              <a:rPr dirty="0"/>
              <a:t>+</a:t>
            </a:r>
            <a:r>
              <a:rPr spc="-60" dirty="0"/>
              <a:t> </a:t>
            </a:r>
            <a:r>
              <a:rPr dirty="0"/>
              <a:t>final</a:t>
            </a:r>
            <a:r>
              <a:rPr spc="-60" dirty="0"/>
              <a:t> </a:t>
            </a:r>
            <a:r>
              <a:rPr spc="-10" dirty="0"/>
              <a:t>report/presentation.</a:t>
            </a:r>
          </a:p>
          <a:p>
            <a:pPr marL="12700" marR="485775">
              <a:lnSpc>
                <a:spcPct val="100000"/>
              </a:lnSpc>
              <a:spcBef>
                <a:spcPts val="1000"/>
              </a:spcBef>
            </a:pPr>
            <a:r>
              <a:rPr spc="-55" dirty="0"/>
              <a:t>Team</a:t>
            </a:r>
            <a:r>
              <a:rPr spc="-85" dirty="0"/>
              <a:t> </a:t>
            </a:r>
            <a:r>
              <a:rPr dirty="0"/>
              <a:t>roles</a:t>
            </a:r>
            <a:r>
              <a:rPr spc="-85" dirty="0"/>
              <a:t> </a:t>
            </a:r>
            <a:r>
              <a:rPr dirty="0"/>
              <a:t>split</a:t>
            </a:r>
            <a:r>
              <a:rPr spc="-85" dirty="0"/>
              <a:t> </a:t>
            </a:r>
            <a:r>
              <a:rPr dirty="0"/>
              <a:t>across</a:t>
            </a:r>
            <a:r>
              <a:rPr spc="-85" dirty="0"/>
              <a:t> </a:t>
            </a:r>
            <a:r>
              <a:rPr dirty="0"/>
              <a:t>dataset</a:t>
            </a:r>
            <a:r>
              <a:rPr spc="-80" dirty="0"/>
              <a:t> </a:t>
            </a:r>
            <a:r>
              <a:rPr dirty="0"/>
              <a:t>work,</a:t>
            </a:r>
            <a:r>
              <a:rPr spc="-85" dirty="0"/>
              <a:t> </a:t>
            </a:r>
            <a:r>
              <a:rPr spc="-10" dirty="0"/>
              <a:t>segmentation, classification</a:t>
            </a:r>
            <a:r>
              <a:rPr spc="-60" dirty="0"/>
              <a:t> </a:t>
            </a:r>
            <a:r>
              <a:rPr spc="-10" dirty="0"/>
              <a:t>experiments,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documentation.</a:t>
            </a:r>
          </a:p>
          <a:p>
            <a:pPr marL="12700" marR="489584">
              <a:lnSpc>
                <a:spcPct val="100000"/>
              </a:lnSpc>
              <a:spcBef>
                <a:spcPts val="1000"/>
              </a:spcBef>
            </a:pPr>
            <a:r>
              <a:rPr lang="en-IN" spc="-10" dirty="0"/>
              <a:t>Tools</a:t>
            </a:r>
            <a:r>
              <a:rPr spc="-10" dirty="0"/>
              <a:t>:</a:t>
            </a:r>
            <a:r>
              <a:rPr spc="-70" dirty="0"/>
              <a:t> </a:t>
            </a:r>
            <a:r>
              <a:rPr spc="-25" dirty="0"/>
              <a:t>MATLAB</a:t>
            </a:r>
            <a:endParaRPr spc="-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762000"/>
            <a:ext cx="7451090" cy="974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25600"/>
              </a:lnSpc>
              <a:spcBef>
                <a:spcPts val="100"/>
              </a:spcBef>
            </a:pPr>
            <a:r>
              <a:rPr lang="en-US" sz="2800" b="1" dirty="0">
                <a:effectLst/>
                <a:latin typeface="Helvetica Neue" panose="02000503000000020004" pitchFamily="2" charset="0"/>
              </a:rPr>
              <a:t>Risks, Contingency Plan and Conclusion</a:t>
            </a:r>
            <a:br>
              <a:rPr lang="en-US" sz="1200" dirty="0">
                <a:effectLst/>
                <a:latin typeface="Helvetica Neue" panose="02000503000000020004" pitchFamily="2" charset="0"/>
              </a:rPr>
            </a:b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736819"/>
            <a:ext cx="7424420" cy="3111108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spcBef>
                <a:spcPts val="1100"/>
              </a:spcBef>
            </a:pPr>
            <a:r>
              <a:rPr lang="en-US" sz="2400" dirty="0">
                <a:solidFill>
                  <a:srgbClr val="454545"/>
                </a:solidFill>
                <a:latin typeface="Arial MT"/>
              </a:rPr>
              <a:t>Risk Limited dataset, lower-than-expected accuracy, </a:t>
            </a:r>
            <a:r>
              <a:rPr sz="2400" dirty="0">
                <a:solidFill>
                  <a:srgbClr val="454545"/>
                </a:solidFill>
                <a:latin typeface="Arial MT"/>
              </a:rPr>
              <a:t>time constraints for many combinations</a:t>
            </a:r>
            <a:endParaRPr sz="24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Contingency:</a:t>
            </a:r>
            <a:r>
              <a:rPr sz="2400" spc="-9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prioritize</a:t>
            </a:r>
            <a:r>
              <a:rPr sz="2400" spc="-9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fewer</a:t>
            </a:r>
            <a:r>
              <a:rPr sz="2400" spc="-8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but</a:t>
            </a:r>
            <a:r>
              <a:rPr sz="2400" spc="-9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stronger</a:t>
            </a:r>
            <a:r>
              <a:rPr sz="2400" spc="-8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methods</a:t>
            </a:r>
            <a:r>
              <a:rPr sz="2400" spc="-9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54545"/>
                </a:solidFill>
                <a:latin typeface="Arial MT"/>
                <a:cs typeface="Arial MT"/>
              </a:rPr>
              <a:t>and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use</a:t>
            </a:r>
            <a:r>
              <a:rPr sz="2400" spc="-7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a</a:t>
            </a:r>
            <a:r>
              <a:rPr sz="2400" spc="-7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smaller</a:t>
            </a:r>
            <a:r>
              <a:rPr sz="2400" spc="-7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validated</a:t>
            </a:r>
            <a:r>
              <a:rPr sz="2400" spc="-7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dataset</a:t>
            </a:r>
            <a:r>
              <a:rPr sz="2400" spc="-7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if</a:t>
            </a:r>
            <a:r>
              <a:rPr sz="2400" spc="-7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needed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Redistribute</a:t>
            </a:r>
            <a:r>
              <a:rPr sz="2400" spc="-5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tasks</a:t>
            </a:r>
            <a:r>
              <a:rPr sz="2400" spc="-5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if</a:t>
            </a:r>
            <a:r>
              <a:rPr sz="2400" spc="-5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any</a:t>
            </a:r>
            <a:r>
              <a:rPr sz="2400" spc="-4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delays</a:t>
            </a:r>
            <a:r>
              <a:rPr sz="2400" spc="-5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happen</a:t>
            </a:r>
            <a:endParaRPr sz="2400" dirty="0">
              <a:latin typeface="Arial MT"/>
              <a:cs typeface="Arial MT"/>
            </a:endParaRPr>
          </a:p>
          <a:p>
            <a:pPr marL="12700" marR="36830">
              <a:lnSpc>
                <a:spcPct val="100000"/>
              </a:lnSpc>
              <a:spcBef>
                <a:spcPts val="1000"/>
              </a:spcBef>
            </a:pP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Conclusion:</a:t>
            </a:r>
            <a:r>
              <a:rPr sz="2400" spc="-8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feasible</a:t>
            </a:r>
            <a:r>
              <a:rPr sz="2400" spc="-8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and</a:t>
            </a:r>
            <a:r>
              <a:rPr sz="2400" spc="-8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meaningful</a:t>
            </a:r>
            <a:r>
              <a:rPr sz="2400" spc="-8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project</a:t>
            </a:r>
            <a:r>
              <a:rPr sz="2400" spc="-8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combining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image</a:t>
            </a:r>
            <a:r>
              <a:rPr sz="2400" spc="-6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processing</a:t>
            </a:r>
            <a:r>
              <a:rPr sz="2400" spc="-5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ML</a:t>
            </a:r>
            <a:r>
              <a:rPr sz="2400" spc="-14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for</a:t>
            </a:r>
            <a:r>
              <a:rPr sz="2400" spc="-5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MRI</a:t>
            </a:r>
            <a:r>
              <a:rPr sz="2400" spc="-55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54545"/>
                </a:solidFill>
                <a:latin typeface="Arial MT"/>
                <a:cs typeface="Arial MT"/>
              </a:rPr>
              <a:t>tumor</a:t>
            </a:r>
            <a:r>
              <a:rPr sz="2400" spc="-60" dirty="0">
                <a:solidFill>
                  <a:srgbClr val="45454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54545"/>
                </a:solidFill>
                <a:latin typeface="Arial MT"/>
                <a:cs typeface="Arial MT"/>
              </a:rPr>
              <a:t>classification.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B95A-C1A3-410D-BD42-2788D5E7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971800"/>
            <a:ext cx="3048000" cy="615553"/>
          </a:xfrm>
        </p:spPr>
        <p:txBody>
          <a:bodyPr/>
          <a:lstStyle/>
          <a:p>
            <a:r>
              <a:rPr lang="en-IN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97244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371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MT</vt:lpstr>
      <vt:lpstr>Helvetica Neue</vt:lpstr>
      <vt:lpstr>Lato Extended</vt:lpstr>
      <vt:lpstr>Open Sans</vt:lpstr>
      <vt:lpstr>Office Theme</vt:lpstr>
      <vt:lpstr>PowerPoint Presentation</vt:lpstr>
      <vt:lpstr>In a Nutshell</vt:lpstr>
      <vt:lpstr>Problem Statement and Motivation</vt:lpstr>
      <vt:lpstr>Existing Methods and Research Gap</vt:lpstr>
      <vt:lpstr>Proposed Methodology</vt:lpstr>
      <vt:lpstr>Data, Experiments and Expected Outcome</vt:lpstr>
      <vt:lpstr>Timeline, Team Roles, and Resources</vt:lpstr>
      <vt:lpstr>Risks, Contingency Plan and Conclusion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Amy Yarbrough</dc:creator>
  <cp:lastModifiedBy>Karthigeyan M</cp:lastModifiedBy>
  <cp:revision>7</cp:revision>
  <dcterms:created xsi:type="dcterms:W3CDTF">2026-03-02T02:00:37Z</dcterms:created>
  <dcterms:modified xsi:type="dcterms:W3CDTF">2026-05-05T00:13:39Z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2026-03-02T00:00:00Z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25.2.3.2 (X86_64) / LibreOffice Community</vt:lpwstr>
  </property>
  <property fmtid="{D5CDD505-2E9C-101B-9397-08002B2CF9AE}" pid="5" name="LastSaved">
    <vt:filetime>2026-03-02T00:00:00Z</vt:filetime>
  </property>
</Properties>
</file>