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8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9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Integration Testing Accuracy (%) — All 12 Method Combinations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A6B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D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OTSU+SVM</c:v>
                </c:pt>
                <c:pt idx="1">
                  <c:v>OTSU+IBK</c:v>
                </c:pt>
                <c:pt idx="2">
                  <c:v>OTSU+CNN</c:v>
                </c:pt>
                <c:pt idx="3">
                  <c:v>CANNY+SVM</c:v>
                </c:pt>
                <c:pt idx="4">
                  <c:v>CANNY+IBK</c:v>
                </c:pt>
                <c:pt idx="5">
                  <c:v>CANNY+CNN</c:v>
                </c:pt>
                <c:pt idx="6">
                  <c:v>PSO+SVM</c:v>
                </c:pt>
                <c:pt idx="7">
                  <c:v>PSO+IBK</c:v>
                </c:pt>
                <c:pt idx="8">
                  <c:v>PSO+CNN</c:v>
                </c:pt>
                <c:pt idx="9">
                  <c:v>WS+SVM</c:v>
                </c:pt>
                <c:pt idx="10">
                  <c:v>WS+IBK</c:v>
                </c:pt>
                <c:pt idx="11">
                  <c:v>WS+CNN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56</c:v>
                </c:pt>
                <c:pt idx="1">
                  <c:v>45</c:v>
                </c:pt>
                <c:pt idx="2">
                  <c:v>87</c:v>
                </c:pt>
                <c:pt idx="3">
                  <c:v>71</c:v>
                </c:pt>
                <c:pt idx="4">
                  <c:v>45</c:v>
                </c:pt>
                <c:pt idx="5">
                  <c:v>83</c:v>
                </c:pt>
                <c:pt idx="6">
                  <c:v>45</c:v>
                </c:pt>
                <c:pt idx="7">
                  <c:v>45</c:v>
                </c:pt>
                <c:pt idx="8">
                  <c:v>91</c:v>
                </c:pt>
                <c:pt idx="9">
                  <c:v>63</c:v>
                </c:pt>
                <c:pt idx="10">
                  <c:v>44</c:v>
                </c:pt>
                <c:pt idx="11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BE-DE40-8283-862F89339B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3490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8403" y="4657444"/>
            <a:ext cx="8366760" cy="3428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906" y="733806"/>
            <a:ext cx="8366760" cy="25717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906" y="3360420"/>
            <a:ext cx="5328666" cy="1049274"/>
          </a:xfrm>
        </p:spPr>
        <p:txBody>
          <a:bodyPr anchor="b">
            <a:normAutofit/>
          </a:bodyPr>
          <a:lstStyle>
            <a:lvl1pPr marL="0" indent="0" algn="l">
              <a:buNone/>
              <a:defRPr sz="1650" i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3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rch.tamu.edu/directory/namgyun-kim/" TargetMode="Externa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Digital art of brain">
            <a:extLst>
              <a:ext uri="{FF2B5EF4-FFF2-40B4-BE49-F238E27FC236}">
                <a16:creationId xmlns:a16="http://schemas.microsoft.com/office/drawing/2014/main" id="{B4E21A62-3FBF-28E0-E417-51FC5FFC23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-1"/>
            <a:ext cx="9143984" cy="5143493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9F4FB90-410E-128A-D932-F31229C93A02}"/>
              </a:ext>
            </a:extLst>
          </p:cNvPr>
          <p:cNvSpPr/>
          <p:nvPr/>
        </p:nvSpPr>
        <p:spPr>
          <a:xfrm>
            <a:off x="2430624" y="3536869"/>
            <a:ext cx="4716955" cy="423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ECEN 766 · Algorithms in Structural Bioinformatics</a:t>
            </a:r>
            <a:endParaRPr lang="en-US" sz="1500" b="1" dirty="0">
              <a:solidFill>
                <a:schemeClr val="bg1"/>
              </a:solidFill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01451CA1-62BA-4962-49E6-8D38A3ACE6EE}"/>
              </a:ext>
            </a:extLst>
          </p:cNvPr>
          <p:cNvSpPr/>
          <p:nvPr/>
        </p:nvSpPr>
        <p:spPr>
          <a:xfrm>
            <a:off x="6949424" y="0"/>
            <a:ext cx="2194560" cy="5143499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4F67A72B-AA35-5675-5329-841D2F8F3ADC}"/>
              </a:ext>
            </a:extLst>
          </p:cNvPr>
          <p:cNvSpPr/>
          <p:nvPr/>
        </p:nvSpPr>
        <p:spPr>
          <a:xfrm>
            <a:off x="7086584" y="1994915"/>
            <a:ext cx="1920240" cy="1207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kern="0" spc="2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350" dirty="0"/>
          </a:p>
          <a:p>
            <a:pPr algn="ctr"/>
            <a:r>
              <a:rPr lang="en-US" sz="1350" b="1" kern="0" spc="2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350" dirty="0"/>
          </a:p>
          <a:p>
            <a:pPr algn="ctr"/>
            <a:r>
              <a:rPr lang="en-US" sz="1350" b="1" kern="0" spc="2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5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37BE0E61-0AC1-8881-C545-14CEB287B8C1}"/>
              </a:ext>
            </a:extLst>
          </p:cNvPr>
          <p:cNvSpPr/>
          <p:nvPr/>
        </p:nvSpPr>
        <p:spPr>
          <a:xfrm>
            <a:off x="7086584" y="3229355"/>
            <a:ext cx="1920240" cy="301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A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· ML · AI-Assisted</a:t>
            </a:r>
            <a:endParaRPr lang="en-US" sz="7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C46604F-8E9C-C814-4B6C-D09429C9D961}"/>
              </a:ext>
            </a:extLst>
          </p:cNvPr>
          <p:cNvSpPr/>
          <p:nvPr/>
        </p:nvSpPr>
        <p:spPr>
          <a:xfrm>
            <a:off x="3318424" y="3966431"/>
            <a:ext cx="2743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Karthigeyan Muralidharan</a:t>
            </a:r>
            <a:endParaRPr lang="en-US" sz="105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7412133B-F5CF-D0D1-9B3E-C5E749DCF8E2}"/>
              </a:ext>
            </a:extLst>
          </p:cNvPr>
          <p:cNvSpPr/>
          <p:nvPr/>
        </p:nvSpPr>
        <p:spPr>
          <a:xfrm>
            <a:off x="3318424" y="4158455"/>
            <a:ext cx="2743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Yuvaraj Suresh Babu</a:t>
            </a:r>
            <a:endParaRPr lang="en-US" sz="105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99B7F0FC-DFA5-0477-F32D-4FC78800A0A5}"/>
              </a:ext>
            </a:extLst>
          </p:cNvPr>
          <p:cNvSpPr/>
          <p:nvPr/>
        </p:nvSpPr>
        <p:spPr>
          <a:xfrm>
            <a:off x="3318424" y="4360145"/>
            <a:ext cx="2743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Tamil Subbarayakgounder</a:t>
            </a:r>
            <a:endParaRPr lang="en-US" sz="1050" dirty="0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A09FFEFC-27D3-C779-C6C1-6E18492E6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992468" y="467846"/>
            <a:ext cx="2108472" cy="31420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433E1A-6D72-61CB-D8B3-56D161B667B7}"/>
              </a:ext>
            </a:extLst>
          </p:cNvPr>
          <p:cNvSpPr/>
          <p:nvPr/>
        </p:nvSpPr>
        <p:spPr>
          <a:xfrm>
            <a:off x="0" y="-9296"/>
            <a:ext cx="6949424" cy="1357745"/>
          </a:xfrm>
          <a:prstGeom prst="rect">
            <a:avLst/>
          </a:prstGeom>
          <a:solidFill>
            <a:schemeClr val="tx1">
              <a:lumMod val="75000"/>
              <a:lumOff val="25000"/>
              <a:alpha val="193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2800" dirty="0">
                <a:solidFill>
                  <a:srgbClr val="FFFFFF"/>
                </a:solidFill>
                <a:latin typeface="American Typewriter" panose="02090604020004020304" pitchFamily="18" charset="77"/>
                <a:ea typeface="Calibri" pitchFamily="34" charset="-122"/>
                <a:cs typeface="Calibri" pitchFamily="34" charset="-120"/>
              </a:rPr>
              <a:t>Brain MRI Tumor Classification</a:t>
            </a:r>
          </a:p>
          <a:p>
            <a:pPr algn="ctr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merican Typewriter" panose="02090604020004020304" pitchFamily="18" charset="77"/>
                <a:ea typeface="Calibri" pitchFamily="34" charset="-122"/>
                <a:cs typeface="Calibri" pitchFamily="34" charset="-120"/>
              </a:rPr>
              <a:t>with ROI Segmentation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American Typewriter" panose="02090604020004020304" pitchFamily="18" charset="77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941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25603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brain tumor diagnoses annually (US)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265176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618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mortality improvement with early detection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65176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618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variability between radiologists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487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248716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interpretation of brain MRI scans is time-consuming, subjective, and prone to inter-radiologist variability. Automated, reproducible classification systems are essential for scalable clinical support.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10128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10128"/>
            <a:ext cx="40233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310128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67588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inter-rater diagnostic inconsistency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regions are small, irregular, &amp; variable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Non-tumor regions dilute extracted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full-image feature extraction is noisy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310128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310128"/>
            <a:ext cx="402336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310128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67588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preprocessing &amp; noise reduction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ROI segmentation before feature extraction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+ PCA feature extraction from tumor ROI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classifier with cross-validated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&amp; Project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0" cy="1828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5568" y="1188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60020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full-image wavelet feature extraction + SVM classification as the performance benchmark.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017520"/>
            <a:ext cx="640080" cy="1828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611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Segmentation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361188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lightweight tumor ROI module using Otsu thresholding + morphological operations to isolate candidate tumor regions.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640080" cy="1828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04688" y="1188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04688" y="160020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Rigorously compare baseline vs. ROI-based pipelines using accuracy, precision, recall, and F1-score under cross-validation.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640080" cy="1828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611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04688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361188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an interpretable, reproducible MATLAB-based implementation accessible for clinical research and education.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BF8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23444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1581912"/>
            <a:ext cx="210312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10512" y="960120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10512" y="960120"/>
            <a:ext cx="1234440" cy="38404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960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56232" y="1371600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44952" y="1581912"/>
            <a:ext cx="210312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5264" y="960120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55264" y="960120"/>
            <a:ext cx="123444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960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00984" y="1371600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9704" y="1581912"/>
            <a:ext cx="210312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0016" y="960120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960120"/>
            <a:ext cx="123444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960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45736" y="1371600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34456" y="1581912"/>
            <a:ext cx="210312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960120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960120"/>
            <a:ext cx="12344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960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90488" y="1371600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(SVM)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79208" y="1581912"/>
            <a:ext cx="210312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960120"/>
            <a:ext cx="1234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89520" y="960120"/>
            <a:ext cx="12344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960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35240" y="1371600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2468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 Compared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2880360"/>
            <a:ext cx="41148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2880360"/>
            <a:ext cx="4114800" cy="274320"/>
          </a:xfrm>
          <a:prstGeom prst="rect">
            <a:avLst/>
          </a:prstGeom>
          <a:solidFill>
            <a:srgbClr val="5A7184"/>
          </a:solidFill>
          <a:ln w="12700">
            <a:solidFill>
              <a:srgbClr val="5A718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—  Full-Image Features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3218688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MRI  →  Preprocessing  →  DWT + PCA (full image)  →  SVM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extracted from entire image including skull, healthy tissue, and background.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20240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~68–72%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880360"/>
            <a:ext cx="4114800" cy="2029968"/>
          </a:xfrm>
          <a:prstGeom prst="rect">
            <a:avLst/>
          </a:prstGeom>
          <a:solidFill>
            <a:srgbClr val="F0FDF4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880360"/>
            <a:ext cx="41148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 —  ROI-Based Features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218688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MRI  →  Preprocessing  →  ROI Segmentation  →  DWT + PCA (ROI)  →  SVM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extracted exclusively from the isolated tumor region — reducing noise from irrelevant tissue.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4572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~72–76%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53128" y="373075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841248"/>
            <a:ext cx="16459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8412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Scans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0" y="1225296"/>
            <a:ext cx="0" cy="283464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508760"/>
            <a:ext cx="1645920" cy="38404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892808"/>
            <a:ext cx="0" cy="283464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176272"/>
            <a:ext cx="164592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176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0" y="2368296"/>
            <a:ext cx="0" cy="0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920240"/>
            <a:ext cx="16459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2368296"/>
            <a:ext cx="0" cy="118872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304288"/>
            <a:ext cx="16459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3042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2368296"/>
            <a:ext cx="914400" cy="0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920240"/>
            <a:ext cx="164592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20640" y="2368296"/>
            <a:ext cx="914400" cy="128016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2304288"/>
            <a:ext cx="16459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23042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2560320"/>
            <a:ext cx="0" cy="292608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852928"/>
            <a:ext cx="1645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0" y="2852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0" y="3044952"/>
            <a:ext cx="0" cy="0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2697480"/>
            <a:ext cx="164592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2697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0" y="3044952"/>
            <a:ext cx="0" cy="219456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072384"/>
            <a:ext cx="164592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30723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7680" y="3236976"/>
            <a:ext cx="0" cy="292608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0" y="3529584"/>
            <a:ext cx="1645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74720" y="35295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20640" y="3721608"/>
            <a:ext cx="914400" cy="0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337560"/>
            <a:ext cx="164592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035040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20640" y="3721608"/>
            <a:ext cx="914400" cy="182880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3712464"/>
            <a:ext cx="164592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035040" y="37124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20640" y="3721608"/>
            <a:ext cx="914400" cy="557784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4087368"/>
            <a:ext cx="164592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35040" y="4087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IBK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97680" y="3913632"/>
            <a:ext cx="0" cy="292608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51760" y="4471416"/>
            <a:ext cx="15544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51760" y="446864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389120" y="4462272"/>
            <a:ext cx="155448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389120" y="4434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297680" y="4206240"/>
            <a:ext cx="0" cy="0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97680" y="4206240"/>
            <a:ext cx="822960" cy="0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04FD7DC5-115A-FA81-BC44-350EB55E960A}"/>
              </a:ext>
            </a:extLst>
          </p:cNvPr>
          <p:cNvSpPr/>
          <p:nvPr/>
        </p:nvSpPr>
        <p:spPr>
          <a:xfrm>
            <a:off x="3474720" y="4200698"/>
            <a:ext cx="822960" cy="0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53" name="Shape 43">
            <a:extLst>
              <a:ext uri="{FF2B5EF4-FFF2-40B4-BE49-F238E27FC236}">
                <a16:creationId xmlns:a16="http://schemas.microsoft.com/office/drawing/2014/main" id="{63C3BAB4-BAED-AC58-4AD0-7CE8E6C6BF0A}"/>
              </a:ext>
            </a:extLst>
          </p:cNvPr>
          <p:cNvSpPr/>
          <p:nvPr/>
        </p:nvSpPr>
        <p:spPr>
          <a:xfrm flipH="1">
            <a:off x="3474719" y="4200698"/>
            <a:ext cx="2772" cy="261572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54" name="Shape 43">
            <a:extLst>
              <a:ext uri="{FF2B5EF4-FFF2-40B4-BE49-F238E27FC236}">
                <a16:creationId xmlns:a16="http://schemas.microsoft.com/office/drawing/2014/main" id="{28EAD7FF-343A-92CD-6C28-C012B6E598DE}"/>
              </a:ext>
            </a:extLst>
          </p:cNvPr>
          <p:cNvSpPr/>
          <p:nvPr/>
        </p:nvSpPr>
        <p:spPr>
          <a:xfrm flipH="1">
            <a:off x="5112325" y="4200698"/>
            <a:ext cx="2772" cy="261572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 datasets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960120"/>
            <a:ext cx="196596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9601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28016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axial slices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(grayscale 256×256 px)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19659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9601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28016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Benign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Malignant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960120"/>
            <a:ext cx="196596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9601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128016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 px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4023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05840" y="2834640"/>
            <a:ext cx="0" cy="77724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28346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Resizing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309067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all MRI scans to 256×256 px for consistent feature vector dimensionality across the entire dataset.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4023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05840" y="3931920"/>
            <a:ext cx="0" cy="77724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39319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Conversion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41879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grayscale where necessary; MRI scans are inherently single-channel intensity images.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743200"/>
            <a:ext cx="4023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73168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303520" y="2834640"/>
            <a:ext cx="0" cy="77724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28346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 (Median Filter)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40680" y="309067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filtering outperforms adaptive &amp; spatial filters — preserves critical tumor boundary edges while removing salt-and-pepper noise.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840480"/>
            <a:ext cx="4023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73168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303520" y="3931920"/>
            <a:ext cx="0" cy="77724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39319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Normalization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41879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smoothing + intensity normalization to reduce inter-sample variability across different MRI acquisition conditions.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Segmentation Module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Segment Before Feature Extraction?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features extracted from the full MRI image are dominated by skull structures, CSF, and healthy brain tissue — diluting the tumor-specific signal. ROI segmentation isolates the candidate tumor region, improving signal-to-noise ratio for downstream classification.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83080"/>
            <a:ext cx="100584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65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1328" y="1874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Thresholding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2221992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preprocessed grayscale image to a binary foreground mask. Otsu's method auto-selects the optimal threshold by minimizing intra-class variance — no manual tuning required.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783080"/>
            <a:ext cx="100584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65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79008" y="1874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Operations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79008" y="2221992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erosion + dilation (opening/closing) to remove small isolated noise regions and fill holes within the candidate tumor mask, ensuring a clean connected region.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37560"/>
            <a:ext cx="100584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886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81328" y="34290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81328" y="3776472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connected components. Select the most likely tumor candidate based on heuristics: component size (largest bright region), eccentricity, and spatial location.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337560"/>
            <a:ext cx="100584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520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3886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79008" y="34290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Extraction &amp; Masking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79008" y="3776472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and mask the original MRI image to the bounding box of the selected component. All downstream feature extraction performed only within this isolated region.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Algorithm 1 — Canny Edge Detection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9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/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02336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4904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 is the most frequently used approach for segmenting images based on abrupt change in intensity.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Canny edge detector works in a multi-stage process: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Smoothing — suppresses noise before edge detection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Computation — finds intensity gradients in all directions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 — thins edges to single-pixel width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Thresholding — classifies edges as strong, weak, or non-edges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Tracking by Hysteresis — suppresses weak edges not connected to strong 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Strength: Capable of yielding a totally unbroken edge for the posterior boundary of the brain.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371600"/>
            <a:ext cx="42062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71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at detecting thin, continuous boundaries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process makes it robust to noise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efficient for real-time use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unbroken posterior brain boundary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15468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3154680"/>
            <a:ext cx="42062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154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threshold parameter selection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over-detect edges in noisy images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edges only — does not fill tumor region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+ CNN accuracy: 83% (2nd overall)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solidFill>
            <a:srgbClr val="FFF7ED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92861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Testing: CANNY + (DWT+PCA) + SVM = 71%  |  CANNY + CNN = 83%  |  CANNY + (DWT+PCA) + Lazy IBK = 45%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Algorithm 2 — Otsu Thresholding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9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/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02336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4904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Otsu's thresholding is a non-linear operation that converts a grayscale image into a binary image — pixels below or above the threshold are assigned to two distinct levels.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contains two pixel classes following a bi-modal histogram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pixels  (tumor region)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pixels  (healthy tissue, skull, CSF)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Goal: Compute the optimal threshold T* that minimizes intra-class variance (σ²_w) while maximizing inter-class variance (σ²_b).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= argmin [σ²_w(T)]  where σ²_w = ω₁σ₁² + ω₂σ₂²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371600"/>
            <a:ext cx="42062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71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automatic — no manual threshold tuning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Efficient: O(G) complexity (G = grey levels)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method used in our ROI segmentation module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for images with clear bimodal histograms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15468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3154680"/>
            <a:ext cx="42062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154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bi-modal histogram — fails on non-uniform images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intensity variations across MRI scanners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consider spatial context of pixels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+ CNN accuracy: 87% (strong performer)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92861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Testing: OTSU + (DWT+PCA) + SVM = 56%  |  OTSU + CNN = 87%  |  OTSU + (DWT+PCA) + Lazy IBK = 45%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Algorithm 3 — Watershed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9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/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0233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4904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is a gradient-based segmentation technique. It views any grayscale image as a topographic surface: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intensity  →  peaks and hills (bright regions)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intensity  →  valleys (dark regions)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simulated flooding from local minima. Watershed boundaries form at ridgelines where flooding from different sources would meet.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 MRI images with higher intensity contrast between tumor and surrounding tissue.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Known Issue: May produce over-segmented results due to noise or irregularities in the gradient image.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371600"/>
            <a:ext cx="42062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71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training data required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at separating touching or overlapping regions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 irregular tumor shapes well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high-contrast, high-intensity MRI images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15468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3154680"/>
            <a:ext cx="42062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154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over-segmentation from noise/artifacts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pre-processing gradient smoothing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heavier than thresholding methods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+ CNN accuracy: 76% (lowest CNN combo)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solidFill>
            <a:srgbClr val="F5F3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92861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Testing: Watershed + (DWT+PCA) + SVM = 63%  |  Watershed + CNN = 76%  |  Watershed + (DWT+PCA) + Lazy IBK = 44%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Algorithm 4 — Particle Swarm Optimization (PSO)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9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Algorithm 4 / 4  — BEST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94560" y="914400"/>
            <a:ext cx="65836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0" y="914400"/>
            <a:ext cx="7315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9418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gives the best segmentation results among all 4 algorithms implemented — and PSO + CNN achieves the highest overall accuracy at 91%.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17320"/>
            <a:ext cx="4023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is based on swarm intelligence — inspired by the collective behavior of bird flocking and fish schooling.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threshold is a 'particle' in the solution space: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particle has a fitness value (evaluated by a fitness function) and a velocity vector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explore the solution space guided by their personal best and the global swarm best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update: x(t+1) = x(t) + v(t+1)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update: v(t+1) = ωv(t) + c₁r₁(pbest - x) + c₂r₂(gbest - 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a group of randomly generated solutions and iteratively converges on the optimal segmentation threshold.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417320"/>
            <a:ext cx="42062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PSO Wins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82880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 avoids local optima unlike greedy threshold methods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assumptions about intensity distribution (unlike Otsu)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complex, multi-region tumor boundaries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cleanest tumor mask → best downstream 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18211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182112"/>
            <a:ext cx="4206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182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611880"/>
            <a:ext cx="411480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611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+ CNN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52360" y="3611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★ BEST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995928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9959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+ (DWT+PCA) + SVM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52360" y="39959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4379976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3799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+ (DWT+PCA) + Lazy IBK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52360" y="43799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solidFill>
            <a:srgbClr val="FFFBEB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492861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PSO achieves the best segmentation quality of all 4 algorithms — PSO + CNN at 91% is the top-performing combination in the entire integration test suite.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DWT + PCA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Wavelet Transform (DWT)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MRI image into multi-resolution frequency subbands: LL (approximation), LH, HL, HH (detail).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coefficients localize frequency information of the signal — critical for capturing texture and edge patterns at different spatial scales.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features (mean, variance, energy, entropy) are extracted from each subband to form a compact representation of the tumor region.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02336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(PCA)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353312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produces a high-dimensional coefficient matrix. PCA is applied to reduce this large dimensionality before classification.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Eigenvectors of the covariance matrix and approximates the data by a linear combination of the leading eigenvectors.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maximum variance in the data with minimal components — reducing redundancy and improving SVM classifier performance.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+ PCA Pipeline 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96512"/>
            <a:ext cx="1261872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4096512"/>
            <a:ext cx="1261872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429768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(ROI)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27632" y="4526280"/>
            <a:ext cx="201168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4096512"/>
            <a:ext cx="1261872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0" y="4096512"/>
            <a:ext cx="1261872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65376" y="429768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90672" y="4526280"/>
            <a:ext cx="201168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096512"/>
            <a:ext cx="1261872" cy="841248"/>
          </a:xfrm>
          <a:prstGeom prst="rect">
            <a:avLst/>
          </a:prstGeom>
          <a:solidFill>
            <a:srgbClr val="F5F3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4096512"/>
            <a:ext cx="126187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429768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Subband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53712" y="4526280"/>
            <a:ext cx="201168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4096512"/>
            <a:ext cx="1261872" cy="841248"/>
          </a:xfrm>
          <a:prstGeom prst="rect">
            <a:avLst/>
          </a:prstGeom>
          <a:solidFill>
            <a:srgbClr val="F5F3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4096512"/>
            <a:ext cx="126187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429768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16752" y="4526280"/>
            <a:ext cx="201168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096512"/>
            <a:ext cx="1261872" cy="841248"/>
          </a:xfrm>
          <a:prstGeom prst="rect">
            <a:avLst/>
          </a:prstGeom>
          <a:solidFill>
            <a:srgbClr val="F0FDF4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4096512"/>
            <a:ext cx="126187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429768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79792" y="4526280"/>
            <a:ext cx="201168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4096512"/>
            <a:ext cx="1261872" cy="841248"/>
          </a:xfrm>
          <a:prstGeom prst="rect">
            <a:avLst/>
          </a:prstGeom>
          <a:solidFill>
            <a:srgbClr val="F0FDF4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80960" y="4096512"/>
            <a:ext cx="126187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17536" y="429768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— Extracted GLCM Feature Values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extracted feature values from a segmented tumor ROI — these 13 GLCM + statistical features form the input vector to the SVM classifier.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6276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1627632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0.25713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16712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local intensity variation. Tumor regions show higher contrast than healthy tissue.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103120" y="1572768"/>
            <a:ext cx="16276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1572768"/>
            <a:ext cx="1627632" cy="2377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5727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182880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0.20935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48840" y="216712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correlation of adjacent pixel pairs. Reflects directional texture patterns in tumor.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40480" y="1572768"/>
            <a:ext cx="16276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572768"/>
            <a:ext cx="162763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5727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86200" y="182880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0.84158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86200" y="216712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squared GLCM elements. High energy indicates uniform, ordered texture in tumor region.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577840" y="1572768"/>
            <a:ext cx="16276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1572768"/>
            <a:ext cx="1627632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5727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23560" y="182880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0.9548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23560" y="216712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 of distribution to diagonal. High value means similar adjacent pixel pairs dominate.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15200" y="1572768"/>
            <a:ext cx="16276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0" y="1572768"/>
            <a:ext cx="1627632" cy="23774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15727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60920" y="182880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0.0022578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60920" y="216712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pixel intensity of the segmented tumor ROI after normalization and masking.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2834640"/>
            <a:ext cx="16276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2834640"/>
            <a:ext cx="1627632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83464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Deviation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3090672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0.081086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11480" y="342900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of intensity distribution. Higher std deviation indicates heterogeneous tumor texture.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2834640"/>
            <a:ext cx="16276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103120" y="2834640"/>
            <a:ext cx="1627632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283464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48840" y="3090672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2.598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148840" y="342900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randomness/complexity of the image texture. Malignant tumors typically show higher entropy.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840480" y="2834640"/>
            <a:ext cx="16276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840480" y="2834640"/>
            <a:ext cx="1627632" cy="2377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283464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86200" y="3090672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0.081111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886200" y="342900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intensity. Closely tracks standard deviation for zero-mean normalized images.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77840" y="2834640"/>
            <a:ext cx="16276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577840" y="2834640"/>
            <a:ext cx="162763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283464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23560" y="3090672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0.006529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5623560" y="342900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moment of pixel distribution. Captures overall intensity variability in ROI.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315200" y="2834640"/>
            <a:ext cx="16276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315200" y="2834640"/>
            <a:ext cx="1627632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0" y="283464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60920" y="3090672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0.92699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360920" y="342900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smoothness derived from variance. High smoothness = low contrast uniform regions.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65760" y="4133088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4133088"/>
            <a:ext cx="265176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41330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= 21.659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44074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Sharpness of pixel distribution peak. High kurtosis in tumor regions reflects concentrated bright spots.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0" y="4133088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00400" y="4133088"/>
            <a:ext cx="2651760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46120" y="41330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= 1.8939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291840" y="44074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 of distribution. Positive skew indicates more pixels below mean — characteristic of tumors.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035040" y="4133088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035040" y="4133088"/>
            <a:ext cx="2651760" cy="23774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80760" y="41330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IDM (Homogeneity) = -0.88655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126480" y="44074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Difference Moment. Measures local homogeneity with more weight for near-diagonal entries.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1737360" cy="12344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60704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07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Classifier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097280"/>
            <a:ext cx="6400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Non-probabilistic binary linear classifier; constructs optimal hyperplane maximizing margin between benign/malignant feature distributions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DWT+PCA feature vectors as input; generates a training model after scaling, selecting, and validating features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directly tied to the quality of features from segmentation + extraction — relies on clean ROI masks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linear and RBF kernels evaluated; computationally efficient on standard hardware without GPU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40864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40864"/>
            <a:ext cx="173736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14016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140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Comparator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724912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IBK (k-NN)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2450592"/>
            <a:ext cx="6400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k-nearest neighbor semi-supervised learning algorithm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training examples and defers model building until classification time ('lazy learning')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by majority vote among k nearest neighbors using distance computation in feature space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training data + predefined k value; no explicit model built — highly interpretable but dimensionality-sensitive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94176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94176"/>
            <a:ext cx="1737360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6732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4078224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(CNN)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3803904"/>
            <a:ext cx="6400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multi-channeled segmented image — does NOT use hand-crafted DWT+PCA features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spatial hierarchies automatically: edges → textures → patterns → tumor classification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time: minutes to hours depending on dataset volume and model depth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the best result of the 3 classifiers — PSO + CNN delivers 91% peak accuracy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 (GUI) — MATLAB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583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914400"/>
            <a:ext cx="6583680" cy="274320"/>
          </a:xfrm>
          <a:prstGeom prst="rect">
            <a:avLst/>
          </a:prstGeom>
          <a:solidFill>
            <a:srgbClr val="E8E8E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932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Brain_Tumor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06640" y="9326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□ ×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20240" y="126187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26187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00200" y="1536192"/>
            <a:ext cx="237744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536192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MRI Image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Area 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536192"/>
            <a:ext cx="210312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536192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Segmented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Output 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1581912"/>
            <a:ext cx="118872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581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1965960"/>
            <a:ext cx="118872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2350008"/>
            <a:ext cx="118872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3500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2734056"/>
            <a:ext cx="118872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7340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3163824"/>
            <a:ext cx="1188720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48840" y="3246120"/>
            <a:ext cx="1280160" cy="292608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3246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MRI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08760" y="36118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20240" y="3895344"/>
            <a:ext cx="1554480" cy="292608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20240" y="38953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+ PCA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0" y="361188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60520" y="3895344"/>
            <a:ext cx="987552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389534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39512" y="3895344"/>
            <a:ext cx="987552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9512" y="389534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IBK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18504" y="3895344"/>
            <a:ext cx="987552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8504" y="389534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" y="19751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Input MRI Display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508760" y="2304288"/>
            <a:ext cx="91440" cy="0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" y="32735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Load MRI Scan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508760" y="3383280"/>
            <a:ext cx="640080" cy="0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" y="3931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DWT+PCA Feature Extraction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508760" y="4041648"/>
            <a:ext cx="411480" cy="0"/>
          </a:xfrm>
          <a:prstGeom prst="line">
            <a:avLst/>
          </a:prstGeom>
          <a:noFill/>
          <a:ln w="12700">
            <a:solidFill>
              <a:srgbClr val="1A6B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4828032"/>
            <a:ext cx="74066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63040" y="48280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Segmentation Algorithm (OTSU/CANNY/PSO/Watershed)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950208" y="48280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Benign/Malignant Output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437376" y="48280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Classification (SVM/IBK/CNN)</a:t>
            </a:r>
            <a:endParaRPr lang="en-US" sz="7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47FF2F9-D5E1-7E5D-A03B-C7AED1CA8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760220"/>
            <a:ext cx="2287383" cy="128192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5A1ED29-891B-FE67-661D-4A96BD9DA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416" y="1858241"/>
            <a:ext cx="1974088" cy="10551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 &amp; Evaluation Protocol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splitting ensures balanced class distribution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when dataset size permits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hold-out for smaller datasets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splits to prevent data leakage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Variables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dataset, training protocol, and SVM config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variable changed: full-image vs. ROI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DWT+PCA code applied to both pipelines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exact impact of ROI segmentation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21868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611880"/>
            <a:ext cx="2011680" cy="3200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 + TN) / Total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3708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classifications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3611880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14600" y="3611880"/>
            <a:ext cx="201168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3977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06040" y="43708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among predicted positives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611880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611880"/>
            <a:ext cx="201168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(Sensitivity)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977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43708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clinical safety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3611880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3611880"/>
            <a:ext cx="20116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3977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2×(P×R)/(P+R)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03720" y="43708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68–72%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0058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72–76%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06040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Pipeline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058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+4–5%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96012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0058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03720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(PSO + CNN)</a:t>
            </a:r>
            <a:endParaRPr lang="en-US" sz="9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65760" y="2194560"/>
          <a:ext cx="8412480" cy="2724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0704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Segmentation Provides Moderate but Meaningful Gains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092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ROI-based pipeline consistently outperforms the baseline by ~4–5%. In medical imaging, even small precision gains reduce false negatives that endanger patient safety.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84248"/>
            <a:ext cx="73152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3911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Quality is the Critical Bottleneck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8092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 is tightly coupled to segmentation robustness. Investing in better segmentation (e.g., PSO → CNN: 91%) yields greater downstream gains than classifier tuning.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62656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62656"/>
            <a:ext cx="73152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17520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Dominates Classical Methods — PSO + CNN Achieves 91%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82696"/>
            <a:ext cx="8092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outperforms SVM and Lazy IBK across all segmentation methods. PSO + CNN is the top combination — CNN learns discriminative spatial features without hand-crafted DWT+PCA engineering.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941064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41064"/>
            <a:ext cx="7315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9592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IBK Consistently Underperforms (~44–45%)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61104"/>
            <a:ext cx="8092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performs near-chance level in high-dimensional DWT+PCA feature space — victim of the curse of dimensionality. Applying PCA dimensionality reduction could potentially improve IBK performance.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Takeaway: ROI segmentation is a valuable preprocessing step, but maximum gains require improved segmentation robustness and the expressive power of deep learning classifiers.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Limitations &amp; Mitigations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749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Proposed Mitigation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2137"/>
                          </a:solidFill>
                        </a:rPr>
                        <a:t>Threshold Sensitivity in ROI Segmentation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</a:rPr>
                        <a:t>Otsu thresholding performance degrades when intensity distributions shift across MRI acquisition conditions — inconsistent tumor boundaries.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</a:rPr>
                        <a:t>Explore adaptive thresholding and multi-level Otsu; add morphological cleanup with tuned kernel sizes.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2137"/>
                          </a:solidFill>
                        </a:rPr>
                        <a:t>High-Dimensional Feature Space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</a:rPr>
                        <a:t>Combining DWT and PCA features can still yield redundant dimensions; inflated feature vectors reduce SVM margin quality.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</a:rPr>
                        <a:t>Evaluate feature importance via SVM weights; apply aggressive PCA variance retention thresholds to prune uninformative components.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2137"/>
                          </a:solidFill>
                        </a:rPr>
                        <a:t>Dataset Variability &amp; Quality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</a:rPr>
                        <a:t>MRI scans exhibit intensity inconsistencies, motion artifacts, and scanner-dependent contrast — leading to unstable generalization.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</a:rPr>
                        <a:t>Stringent preprocessing validation; visualize samples pre/post pipeline; consider histogram equalization for contrast harmonization.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2137"/>
                          </a:solidFill>
                        </a:rPr>
                        <a:t>Small &amp; Imbalanced Datasets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</a:rPr>
                        <a:t>Limited labeled brain MRI datasets cause overfitting and biased metrics, especially for the minority class.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</a:rPr>
                        <a:t>Stratified k-fold cross-validation; report class-specific precision/recall; data augmentation (rotation, flipping, brightness).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Extensions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32918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51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Deep Segmentation (U-Net)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threshold-based ROI with a trained U-Net for pixel-level tumor masks ; dramatically reducing segmentation errors on low-contrast tumors.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97480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51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Multi-Class Grading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binary classifier to 4-class grading: Glioma, Meningioma, Pituitary, Normal ; requires multi-class SVM or softmax CNN head.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974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051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17920" y="13716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 Integration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cloud-hosted API. Partner MRI centers upload scans; system returns classification in real time ; enabling continuous model retraining.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9923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99232"/>
            <a:ext cx="269748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3649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3D Volumetric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776472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2D slice-based to 3D volumetric CNN (e.g., ResNet-3D). Captures inter-slice spatial relationships missed by 2D models.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299923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99232"/>
            <a:ext cx="26974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37560" y="33649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Real-Time MRI Integration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3776472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directly with MRI scanner output for real-time classification during scanning sessions. Requires sub-second inference and DICOM compatibility.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99923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99232"/>
            <a:ext cx="2697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17920" y="33649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Explainability (XAI)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3776472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and SHAP to generate visual explanations of CNN decisions ; critical for clinical trust and regulatory compliance in medical AI.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91072" y="0"/>
            <a:ext cx="109728" cy="5143500"/>
          </a:xfrm>
          <a:prstGeom prst="rect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5029200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292608" cy="292608"/>
          </a:xfrm>
          <a:prstGeom prst="ellipse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06984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achieves the best segmentation of all 4 algorithms , PSO + CNN delivers the peak accuracy of 91% in the entire benchmark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92608" cy="292608"/>
          </a:xfrm>
          <a:prstGeom prst="ellipse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77393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segmentation consistently improves accuracy by ~4–5% over the full-image baseline by reducing feature noise from non-tumor tissue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292608" cy="292608"/>
          </a:xfrm>
          <a:prstGeom prst="ellipse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47802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+ PCA feature extraction provides compact, discriminative representations , quality directly determines classifier ceiling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292608" cy="292608"/>
          </a:xfrm>
          <a:prstGeom prst="ellipse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18211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quality is the single most critical bottleneck , better tumor masks translate directly to better classification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292608" cy="292608"/>
          </a:xfrm>
          <a:prstGeom prst="ellipse">
            <a:avLst/>
          </a:prstGeom>
          <a:solidFill>
            <a:srgbClr val="00B8CC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8862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pipeline is interpretable, reproducible, and runnable on standard hardware without GPU requirements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675120" y="2788920"/>
            <a:ext cx="2011680" cy="0"/>
          </a:xfrm>
          <a:prstGeom prst="line">
            <a:avLst/>
          </a:prstGeom>
          <a:noFill/>
          <a:ln w="12700">
            <a:solidFill>
              <a:srgbClr val="00B8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ECEN 766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Bioinformatics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A&amp;M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3066</Words>
  <Application>Microsoft Office PowerPoint</Application>
  <PresentationFormat>On-screen Show (16:9)</PresentationFormat>
  <Paragraphs>465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American Typewriter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MRI Tumor Classification with ROI Segmentation</dc:title>
  <dc:subject>PptxGenJS Presentation</dc:subject>
  <dc:creator>PptxGenJS</dc:creator>
  <cp:lastModifiedBy>Suresh Babu, Yuvaraj</cp:lastModifiedBy>
  <cp:revision>6</cp:revision>
  <dcterms:created xsi:type="dcterms:W3CDTF">2026-04-29T01:07:40Z</dcterms:created>
  <dcterms:modified xsi:type="dcterms:W3CDTF">2026-04-30T18:31:34Z</dcterms:modified>
</cp:coreProperties>
</file>